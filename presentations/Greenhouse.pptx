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9" r:id="rId3"/>
    <p:sldId id="265" r:id="rId4"/>
    <p:sldId id="269" r:id="rId5"/>
    <p:sldId id="257" r:id="rId6"/>
    <p:sldId id="268" r:id="rId7"/>
    <p:sldId id="258" r:id="rId8"/>
    <p:sldId id="266" r:id="rId9"/>
    <p:sldId id="262" r:id="rId10"/>
    <p:sldId id="264" r:id="rId11"/>
    <p:sldId id="263" r:id="rId12"/>
    <p:sldId id="270" r:id="rId13"/>
    <p:sldId id="267" r:id="rId14"/>
    <p:sldId id="271" r:id="rId15"/>
    <p:sldId id="272" r:id="rId1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1272" autoAdjust="0"/>
    <p:restoredTop sz="94622" autoAdjust="0"/>
  </p:normalViewPr>
  <p:slideViewPr>
    <p:cSldViewPr>
      <p:cViewPr varScale="1">
        <p:scale>
          <a:sx n="74" d="100"/>
          <a:sy n="74" d="100"/>
        </p:scale>
        <p:origin x="-828"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BD0E6-13BA-4FAA-BE4E-7C9BC7CAC896}" type="datetimeFigureOut">
              <a:rPr lang="en-US" smtClean="0"/>
              <a:pPr/>
              <a:t>4/23/2008</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E8D907-95B8-4153-8145-E8BF2603348A}" type="slidenum">
              <a:rPr lang="en-US" smtClean="0"/>
              <a:pPr/>
              <a:t>‹Nº›</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23/04/2008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pPr/>
              <a:t>23/04/2008</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audio" Target="file:///I:\greenhouse\beethoven%20-%209th%20symphony.mp3" TargetMode="Externa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file:///I:\greenhouse\Nuclear%20Age%20-%20Atomic%20Bomb%20Explosion.avi" TargetMode="Externa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en.wikipedia.org/wiki/Earth"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audio" Target="file:///I:\greenhouse\Haendel%20-%20El%20Mes&#237;as,%20Aleluya%20(1).mp3" TargetMode="Externa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dirty="0"/>
          </a:p>
        </p:txBody>
      </p:sp>
      <p:pic>
        <p:nvPicPr>
          <p:cNvPr id="1026" name="Picture 2" descr="C:\Documents and Settings\Way Free You.MATRIX-A4A28AF3\Desktop\Global Warming\2971165570090179925S500x500Q85.jpg"/>
          <p:cNvPicPr>
            <a:picLocks noChangeAspect="1" noChangeArrowheads="1"/>
          </p:cNvPicPr>
          <p:nvPr/>
        </p:nvPicPr>
        <p:blipFill>
          <a:blip r:embed="rId3">
            <a:lum bright="-9000"/>
          </a:blip>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11" name="10 CuadroTexto"/>
          <p:cNvSpPr txBox="1"/>
          <p:nvPr/>
        </p:nvSpPr>
        <p:spPr>
          <a:xfrm>
            <a:off x="428596" y="1785926"/>
            <a:ext cx="8143932" cy="2928958"/>
          </a:xfrm>
          <a:prstGeom prst="rect">
            <a:avLst/>
          </a:prstGeom>
          <a:noFill/>
        </p:spPr>
        <p:txBody>
          <a:bodyPr wrap="square" rtlCol="0">
            <a:spAutoFit/>
          </a:bodyPr>
          <a:lstStyle/>
          <a:p>
            <a:r>
              <a:rPr lang="en-US" sz="4800" dirty="0" smtClean="0">
                <a:solidFill>
                  <a:schemeClr val="bg1"/>
                </a:solidFill>
              </a:rPr>
              <a:t>The greenhouse effect is a good thing as long as we don’t add gases to it. </a:t>
            </a:r>
          </a:p>
          <a:p>
            <a:r>
              <a:rPr lang="en-US" dirty="0" smtClean="0"/>
              <a:t> </a:t>
            </a:r>
          </a:p>
          <a:p>
            <a:endParaRPr lang="en-US" dirty="0"/>
          </a:p>
        </p:txBody>
      </p:sp>
      <p:sp>
        <p:nvSpPr>
          <p:cNvPr id="8" name="7 Rectángulo"/>
          <p:cNvSpPr/>
          <p:nvPr/>
        </p:nvSpPr>
        <p:spPr>
          <a:xfrm>
            <a:off x="3214678" y="4071942"/>
            <a:ext cx="5685147"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BY: </a:t>
            </a:r>
            <a:r>
              <a:rPr lang="es-ES" sz="5400" b="1" cap="none"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Wayfrel</a:t>
            </a: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t>
            </a:r>
            <a:r>
              <a:rPr lang="es-ES" sz="5400" b="1" cap="none" spc="50" dirty="0" err="1"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Puello</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6146" name="Picture 2" descr="C:\Documents and Settings\Way Free You.MATRIX-A4A28AF3\Desktop\xxx\FOTOS\14WF6.jpg"/>
          <p:cNvPicPr>
            <a:picLocks noChangeAspect="1" noChangeArrowheads="1"/>
          </p:cNvPicPr>
          <p:nvPr/>
        </p:nvPicPr>
        <p:blipFill>
          <a:blip r:embed="rId4" cstate="print"/>
          <a:srcRect/>
          <a:stretch>
            <a:fillRect/>
          </a:stretch>
        </p:blipFill>
        <p:spPr bwMode="auto">
          <a:xfrm>
            <a:off x="5643570" y="4929198"/>
            <a:ext cx="1865312" cy="1824038"/>
          </a:xfrm>
          <a:prstGeom prst="rect">
            <a:avLst/>
          </a:prstGeom>
          <a:noFill/>
        </p:spPr>
      </p:pic>
      <p:pic>
        <p:nvPicPr>
          <p:cNvPr id="12" name="beethoven - 9th symphony.mp3">
            <a:hlinkClick r:id="" action="ppaction://media"/>
          </p:cNvPr>
          <p:cNvPicPr>
            <a:picLocks noGrp="1" noRot="1" noChangeAspect="1"/>
          </p:cNvPicPr>
          <p:nvPr>
            <p:ph idx="1"/>
            <a:audioFile r:link="rId1"/>
          </p:nvPr>
        </p:nvPicPr>
        <p:blipFill>
          <a:blip r:embed="rId5"/>
          <a:stretch>
            <a:fillRect/>
          </a:stretch>
        </p:blipFill>
        <p:spPr>
          <a:xfrm>
            <a:off x="142844" y="6429396"/>
            <a:ext cx="304800" cy="30480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737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srcRect/>
          <a:stretch>
            <a:fillRect/>
          </a:stretch>
        </p:blipFill>
        <p:spPr bwMode="auto">
          <a:xfrm>
            <a:off x="0" y="-1"/>
            <a:ext cx="9144000" cy="6857999"/>
          </a:xfrm>
          <a:prstGeom prst="rect">
            <a:avLst/>
          </a:prstGeom>
          <a:noFill/>
        </p:spPr>
      </p:pic>
      <p:pic>
        <p:nvPicPr>
          <p:cNvPr id="4098" name="Picture 2" descr="C:\Documents and Settings\Way Free You.MATRIX-A4A28AF3\Desktop\greenhouse\greenhouseeffect,m.jpg"/>
          <p:cNvPicPr>
            <a:picLocks noChangeAspect="1" noChangeArrowheads="1"/>
          </p:cNvPicPr>
          <p:nvPr/>
        </p:nvPicPr>
        <p:blipFill>
          <a:blip r:embed="rId3"/>
          <a:srcRect/>
          <a:stretch>
            <a:fillRect/>
          </a:stretch>
        </p:blipFill>
        <p:spPr bwMode="auto">
          <a:xfrm>
            <a:off x="0" y="0"/>
            <a:ext cx="9144000" cy="6858000"/>
          </a:xfrm>
          <a:prstGeom prst="rect">
            <a:avLst/>
          </a:prstGeom>
          <a:noFill/>
        </p:spPr>
      </p:pic>
      <p:sp>
        <p:nvSpPr>
          <p:cNvPr id="12" name="11 Marcador de contenido"/>
          <p:cNvSpPr>
            <a:spLocks noGrp="1"/>
          </p:cNvSpPr>
          <p:nvPr>
            <p:ph idx="1"/>
          </p:nvPr>
        </p:nvSpPr>
        <p:spPr/>
        <p:txBody>
          <a:bodyPr/>
          <a:lstStyle/>
          <a:p>
            <a:endParaRPr lang="en-US"/>
          </a:p>
        </p:txBody>
      </p:sp>
    </p:spTree>
  </p:cSld>
  <p:clrMapOvr>
    <a:masterClrMapping/>
  </p:clrMapOvr>
  <p:transition>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lum bright="-16000"/>
          </a:blip>
          <a:srcRect/>
          <a:stretch>
            <a:fillRect/>
          </a:stretch>
        </p:blipFill>
        <p:spPr bwMode="auto">
          <a:xfrm>
            <a:off x="0" y="0"/>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7" name="6 CuadroTexto"/>
          <p:cNvSpPr txBox="1"/>
          <p:nvPr/>
        </p:nvSpPr>
        <p:spPr>
          <a:xfrm>
            <a:off x="357158" y="1500174"/>
            <a:ext cx="8286808" cy="3754874"/>
          </a:xfrm>
          <a:prstGeom prst="rect">
            <a:avLst/>
          </a:prstGeom>
          <a:noFill/>
        </p:spPr>
        <p:txBody>
          <a:bodyPr wrap="square" rtlCol="0">
            <a:spAutoFit/>
          </a:bodyPr>
          <a:lstStyle/>
          <a:p>
            <a:r>
              <a:rPr lang="en-US" sz="2200" dirty="0" smtClean="0">
                <a:solidFill>
                  <a:schemeClr val="bg1"/>
                </a:solidFill>
              </a:rPr>
              <a:t>Discovered in 1824</a:t>
            </a:r>
          </a:p>
          <a:p>
            <a:r>
              <a:rPr lang="en-US" sz="2200" dirty="0" smtClean="0">
                <a:solidFill>
                  <a:schemeClr val="bg1"/>
                </a:solidFill>
              </a:rPr>
              <a:t>by Joseph Fourier </a:t>
            </a: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dirty="0">
              <a:solidFill>
                <a:schemeClr val="bg1"/>
              </a:solidFill>
            </a:endParaRPr>
          </a:p>
        </p:txBody>
      </p:sp>
      <p:pic>
        <p:nvPicPr>
          <p:cNvPr id="2" name="Picture 2" descr="C:\Documents and Settings\Way Free You.MATRIX-A4A28AF3\Desktop\greenhouse\250px-Fourier2.jpg"/>
          <p:cNvPicPr>
            <a:picLocks noChangeAspect="1" noChangeArrowheads="1"/>
          </p:cNvPicPr>
          <p:nvPr/>
        </p:nvPicPr>
        <p:blipFill>
          <a:blip r:embed="rId3"/>
          <a:srcRect/>
          <a:stretch>
            <a:fillRect/>
          </a:stretch>
        </p:blipFill>
        <p:spPr bwMode="auto">
          <a:xfrm>
            <a:off x="428596" y="2357430"/>
            <a:ext cx="2714644" cy="3106759"/>
          </a:xfrm>
          <a:prstGeom prst="rect">
            <a:avLst/>
          </a:prstGeom>
          <a:noFill/>
        </p:spPr>
      </p:pic>
      <p:pic>
        <p:nvPicPr>
          <p:cNvPr id="1027" name="Picture 3" descr="C:\Documents and Settings\Way Free You.MATRIX-A4A28AF3\Desktop\greenhouse\Arrhenius2.jpg"/>
          <p:cNvPicPr>
            <a:picLocks noChangeAspect="1" noChangeArrowheads="1"/>
          </p:cNvPicPr>
          <p:nvPr/>
        </p:nvPicPr>
        <p:blipFill>
          <a:blip r:embed="rId4"/>
          <a:srcRect/>
          <a:stretch>
            <a:fillRect/>
          </a:stretch>
        </p:blipFill>
        <p:spPr bwMode="auto">
          <a:xfrm>
            <a:off x="5429256" y="1857364"/>
            <a:ext cx="2609476" cy="3268654"/>
          </a:xfrm>
          <a:prstGeom prst="rect">
            <a:avLst/>
          </a:prstGeom>
          <a:noFill/>
        </p:spPr>
      </p:pic>
      <p:sp>
        <p:nvSpPr>
          <p:cNvPr id="9" name="8 CuadroTexto"/>
          <p:cNvSpPr txBox="1"/>
          <p:nvPr/>
        </p:nvSpPr>
        <p:spPr>
          <a:xfrm>
            <a:off x="5357818" y="5214950"/>
            <a:ext cx="2786082" cy="1200329"/>
          </a:xfrm>
          <a:prstGeom prst="rect">
            <a:avLst/>
          </a:prstGeom>
          <a:noFill/>
        </p:spPr>
        <p:txBody>
          <a:bodyPr wrap="square" rtlCol="0">
            <a:spAutoFit/>
          </a:bodyPr>
          <a:lstStyle/>
          <a:p>
            <a:r>
              <a:rPr lang="en-US" sz="2400" dirty="0" smtClean="0">
                <a:solidFill>
                  <a:schemeClr val="bg1"/>
                </a:solidFill>
              </a:rPr>
              <a:t>First  investigated  in 1896 by </a:t>
            </a:r>
            <a:r>
              <a:rPr lang="en-US" sz="2400" dirty="0" err="1" smtClean="0">
                <a:solidFill>
                  <a:schemeClr val="bg1"/>
                </a:solidFill>
              </a:rPr>
              <a:t>Svante</a:t>
            </a:r>
            <a:r>
              <a:rPr lang="en-US" sz="2400" dirty="0" smtClean="0">
                <a:solidFill>
                  <a:schemeClr val="bg1"/>
                </a:solidFill>
              </a:rPr>
              <a:t> Arrhenius </a:t>
            </a: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n-US"/>
          </a:p>
        </p:txBody>
      </p:sp>
      <p:sp>
        <p:nvSpPr>
          <p:cNvPr id="3" name="2 Marcador de contenido"/>
          <p:cNvSpPr>
            <a:spLocks noGrp="1"/>
          </p:cNvSpPr>
          <p:nvPr>
            <p:ph idx="1"/>
          </p:nvPr>
        </p:nvSpPr>
        <p:spPr/>
        <p:txBody>
          <a:bodyPr/>
          <a:lstStyle/>
          <a:p>
            <a:endParaRPr lang="en-US"/>
          </a:p>
        </p:txBody>
      </p:sp>
      <p:pic>
        <p:nvPicPr>
          <p:cNvPr id="11266" name="Picture 2" descr="C:\Documents and Settings\Way Free You.MATRIX-A4A28AF3\Desktop\greenhouse\GreenhouseEffectDiagram.jpg"/>
          <p:cNvPicPr>
            <a:picLocks noChangeAspect="1" noChangeArrowheads="1"/>
          </p:cNvPicPr>
          <p:nvPr/>
        </p:nvPicPr>
        <p:blipFill>
          <a:blip r:embed="rId2"/>
          <a:srcRect/>
          <a:stretch>
            <a:fillRect/>
          </a:stretch>
        </p:blipFill>
        <p:spPr bwMode="auto">
          <a:xfrm>
            <a:off x="0" y="-1"/>
            <a:ext cx="9144000" cy="6836817"/>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2050" name="Picture 2" descr="C:\Documents and Settings\Way Free You.MATRIX-A4A28AF3\Desktop\greenhouse\Greenhouect.gif"/>
          <p:cNvPicPr>
            <a:picLocks noChangeAspect="1" noChangeArrowheads="1"/>
          </p:cNvPicPr>
          <p:nvPr/>
        </p:nvPicPr>
        <p:blipFill>
          <a:blip r:embed="rId3"/>
          <a:srcRect/>
          <a:stretch>
            <a:fillRect/>
          </a:stretch>
        </p:blipFill>
        <p:spPr bwMode="auto">
          <a:xfrm>
            <a:off x="1714480" y="1571612"/>
            <a:ext cx="5631152" cy="5286388"/>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3">
            <a:lum bright="-10000"/>
          </a:blip>
          <a:srcRect/>
          <a:stretch>
            <a:fillRect/>
          </a:stretch>
        </p:blipFill>
        <p:spPr bwMode="auto">
          <a:xfrm>
            <a:off x="0" y="-1"/>
            <a:ext cx="9144000" cy="6857999"/>
          </a:xfrm>
          <a:prstGeom prst="rect">
            <a:avLst/>
          </a:prstGeom>
          <a:noFill/>
        </p:spPr>
      </p:pic>
      <p:pic>
        <p:nvPicPr>
          <p:cNvPr id="2050" name="Picture 2" descr="C:\Documents and Settings\Way Free You.MATRIX-A4A28AF3\Desktop\greenhouse\al_gore_i_an_inconv_100607o.jpg">
            <a:hlinkClick r:id="" action="ppaction://hlinkshowjump?jump=nextslide">
              <a:snd r:embed="rId4" name="explode.wav" builtIn="1"/>
            </a:hlinkClick>
          </p:cNvPr>
          <p:cNvPicPr>
            <a:picLocks noChangeAspect="1" noChangeArrowheads="1"/>
          </p:cNvPicPr>
          <p:nvPr/>
        </p:nvPicPr>
        <p:blipFill>
          <a:blip r:embed="rId5"/>
          <a:srcRect/>
          <a:stretch>
            <a:fillRect/>
          </a:stretch>
        </p:blipFill>
        <p:spPr bwMode="auto">
          <a:xfrm>
            <a:off x="0" y="785794"/>
            <a:ext cx="9144000" cy="6072206"/>
          </a:xfrm>
          <a:prstGeom prst="rect">
            <a:avLst/>
          </a:prstGeom>
          <a:noFill/>
        </p:spPr>
      </p:pic>
      <p:sp>
        <p:nvSpPr>
          <p:cNvPr id="10" name="9 Rectángulo"/>
          <p:cNvSpPr/>
          <p:nvPr/>
        </p:nvSpPr>
        <p:spPr>
          <a:xfrm>
            <a:off x="500034" y="-285776"/>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7" name="6 CuadroTexto"/>
          <p:cNvSpPr txBox="1"/>
          <p:nvPr/>
        </p:nvSpPr>
        <p:spPr>
          <a:xfrm>
            <a:off x="357158" y="3571876"/>
            <a:ext cx="8215370" cy="2831544"/>
          </a:xfrm>
          <a:prstGeom prst="rect">
            <a:avLst/>
          </a:prstGeom>
          <a:noFill/>
        </p:spPr>
        <p:txBody>
          <a:bodyPr wrap="square" rtlCol="0">
            <a:spAutoFit/>
          </a:bodyPr>
          <a:lstStyle/>
          <a:p>
            <a:r>
              <a:rPr lang="en-US" sz="3200" dirty="0" smtClean="0">
                <a:solidFill>
                  <a:srgbClr val="FFFF00"/>
                </a:solidFill>
              </a:rPr>
              <a:t>The greenhouse effect has been described by Ex-Vice President Al Gore as the potentially most dangerous environmental problem facing mankind, with consequences second only to </a:t>
            </a:r>
            <a:r>
              <a:rPr lang="en-US" sz="3200" dirty="0" smtClean="0">
                <a:solidFill>
                  <a:srgbClr val="FF0000"/>
                </a:solidFill>
              </a:rPr>
              <a:t>nuclear war.</a:t>
            </a:r>
            <a:r>
              <a:rPr lang="en-US" sz="3200" dirty="0" smtClean="0">
                <a:solidFill>
                  <a:srgbClr val="FFFF00"/>
                </a:solidFill>
              </a:rPr>
              <a:t> </a:t>
            </a:r>
          </a:p>
          <a:p>
            <a:endParaRPr lang="en-US" dirty="0"/>
          </a:p>
        </p:txBody>
      </p:sp>
      <p:pic>
        <p:nvPicPr>
          <p:cNvPr id="11" name="Nuclear Age - Atomic Bomb Explosion.avi">
            <a:hlinkClick r:id="" action="ppaction://media"/>
          </p:cNvPr>
          <p:cNvPicPr>
            <a:picLocks noGrp="1" noRot="1" noChangeAspect="1"/>
          </p:cNvPicPr>
          <p:nvPr>
            <p:ph idx="1"/>
            <a:videoFile r:link="rId1"/>
          </p:nvPr>
        </p:nvPicPr>
        <p:blipFill>
          <a:blip r:embed="rId6" cstate="print"/>
          <a:stretch>
            <a:fillRect/>
          </a:stretch>
        </p:blipFill>
        <p:spPr>
          <a:xfrm>
            <a:off x="4762502" y="2643182"/>
            <a:ext cx="666754" cy="500066"/>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1"/>
                                        </p:tgtEl>
                                      </p:cBhvr>
                                    </p:cmd>
                                  </p:childTnLst>
                                </p:cTn>
                              </p:par>
                            </p:childTnLst>
                          </p:cTn>
                        </p:par>
                      </p:childTnLst>
                    </p:cTn>
                  </p:par>
                </p:childTnLst>
              </p:cTn>
              <p:nextCondLst>
                <p:cond evt="onClick" delay="0">
                  <p:tgtEl>
                    <p:spTgt spid="11"/>
                  </p:tgtEl>
                </p:cond>
              </p:nextCondLst>
            </p:seq>
            <p:video fullScrn="1">
              <p:cMediaNode vol="80000">
                <p:cTn id="7" repeatCount="indefinite" fill="hold" display="0">
                  <p:stCondLst>
                    <p:cond delay="indefinite"/>
                  </p:stCondLst>
                  <p:endCondLst>
                    <p:cond evt="onNext" delay="0">
                      <p:tgtEl>
                        <p:sldTgt/>
                      </p:tgtEl>
                    </p:cond>
                    <p:cond evt="onPrev" delay="0">
                      <p:tgtEl>
                        <p:sldTgt/>
                      </p:tgtEl>
                    </p:cond>
                  </p:endCondLst>
                </p:cTn>
                <p:tgtEl>
                  <p:spTgt spid="11"/>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3074" name="Picture 2" descr="C:\Documents and Settings\Way Free You.MATRIX-A4A28AF3\Desktop\greenhouse\06-07_greenhouse_effect.jpg"/>
          <p:cNvPicPr>
            <a:picLocks noChangeAspect="1" noChangeArrowheads="1"/>
          </p:cNvPicPr>
          <p:nvPr/>
        </p:nvPicPr>
        <p:blipFill>
          <a:blip r:embed="rId3"/>
          <a:srcRect/>
          <a:stretch>
            <a:fillRect/>
          </a:stretch>
        </p:blipFill>
        <p:spPr bwMode="auto">
          <a:xfrm>
            <a:off x="0" y="0"/>
            <a:ext cx="9144000" cy="6785505"/>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dirty="0"/>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lum bright="-10000"/>
          </a:blip>
          <a:srcRect/>
          <a:stretch>
            <a:fillRect/>
          </a:stretch>
        </p:blipFill>
        <p:spPr bwMode="auto">
          <a:xfrm>
            <a:off x="0" y="-1"/>
            <a:ext cx="9144000" cy="6857999"/>
          </a:xfrm>
          <a:prstGeom prst="rect">
            <a:avLst/>
          </a:prstGeom>
          <a:noFill/>
        </p:spPr>
      </p:pic>
      <p:sp>
        <p:nvSpPr>
          <p:cNvPr id="7" name="6 CuadroTexto"/>
          <p:cNvSpPr txBox="1"/>
          <p:nvPr/>
        </p:nvSpPr>
        <p:spPr>
          <a:xfrm>
            <a:off x="571472" y="857232"/>
            <a:ext cx="7929618" cy="6801862"/>
          </a:xfrm>
          <a:prstGeom prst="rect">
            <a:avLst/>
          </a:prstGeom>
          <a:noFill/>
        </p:spPr>
        <p:txBody>
          <a:bodyPr wrap="square" rtlCol="0">
            <a:spAutoFit/>
          </a:bodyPr>
          <a:lstStyle/>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r>
              <a:rPr lang="en-US" sz="2200" dirty="0" smtClean="0">
                <a:solidFill>
                  <a:schemeClr val="bg1"/>
                </a:solidFill>
              </a:rPr>
              <a:t/>
            </a:r>
            <a:br>
              <a:rPr lang="en-US" sz="2200" dirty="0" smtClean="0">
                <a:solidFill>
                  <a:schemeClr val="bg1"/>
                </a:solidFill>
              </a:rPr>
            </a:br>
            <a:r>
              <a:rPr lang="en-US" sz="2200" dirty="0" smtClean="0">
                <a:solidFill>
                  <a:schemeClr val="bg1"/>
                </a:solidFill>
              </a:rPr>
              <a:t/>
            </a:r>
            <a:br>
              <a:rPr lang="en-US" sz="2200" dirty="0" smtClean="0">
                <a:solidFill>
                  <a:schemeClr val="bg1"/>
                </a:solidFill>
              </a:rPr>
            </a:br>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sz="2200" dirty="0" smtClean="0">
              <a:solidFill>
                <a:schemeClr val="bg1"/>
              </a:solidFill>
            </a:endParaRPr>
          </a:p>
          <a:p>
            <a:endParaRPr lang="en-US" dirty="0"/>
          </a:p>
        </p:txBody>
      </p:sp>
      <p:pic>
        <p:nvPicPr>
          <p:cNvPr id="3074" name="Picture 2" descr="C:\Documents and Settings\Way Free You.MATRIX-A4A28AF3\Desktop\greenhouse\You-Are-What-You-Eat5feb03.jpg"/>
          <p:cNvPicPr>
            <a:picLocks noChangeAspect="1" noChangeArrowheads="1"/>
          </p:cNvPicPr>
          <p:nvPr/>
        </p:nvPicPr>
        <p:blipFill>
          <a:blip r:embed="rId3"/>
          <a:srcRect/>
          <a:stretch>
            <a:fillRect/>
          </a:stretch>
        </p:blipFill>
        <p:spPr bwMode="auto">
          <a:xfrm>
            <a:off x="6500826" y="3214686"/>
            <a:ext cx="2019300" cy="2019300"/>
          </a:xfrm>
          <a:prstGeom prst="rect">
            <a:avLst/>
          </a:prstGeom>
          <a:noFill/>
        </p:spPr>
      </p:pic>
      <p:sp>
        <p:nvSpPr>
          <p:cNvPr id="12" name="11 Llamada ovalada"/>
          <p:cNvSpPr/>
          <p:nvPr/>
        </p:nvSpPr>
        <p:spPr>
          <a:xfrm>
            <a:off x="142844" y="428604"/>
            <a:ext cx="7358114" cy="2214578"/>
          </a:xfrm>
          <a:prstGeom prst="wedgeEllipseCallout">
            <a:avLst>
              <a:gd name="adj1" fmla="val 39202"/>
              <a:gd name="adj2" fmla="val 752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000" dirty="0" smtClean="0">
                <a:solidFill>
                  <a:schemeClr val="bg1"/>
                </a:solidFill>
              </a:rPr>
              <a:t>"For two hundred years we've been conquering nature. Now we're beating it up," stated by Francesca Lyman in her book “The Greenhouse Trap”, published by Beacon Press in Boston in the year 1990.</a:t>
            </a:r>
          </a:p>
        </p:txBody>
      </p:sp>
      <p:sp>
        <p:nvSpPr>
          <p:cNvPr id="13" name="12 Llamada ovalada"/>
          <p:cNvSpPr/>
          <p:nvPr/>
        </p:nvSpPr>
        <p:spPr>
          <a:xfrm>
            <a:off x="0" y="2857496"/>
            <a:ext cx="5857916" cy="4000504"/>
          </a:xfrm>
          <a:prstGeom prst="wedgeEllipseCallout">
            <a:avLst>
              <a:gd name="adj1" fmla="val 60293"/>
              <a:gd name="adj2" fmla="val -1574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solidFill>
                <a:schemeClr val="bg1"/>
              </a:solidFill>
            </a:endParaRPr>
          </a:p>
          <a:p>
            <a:r>
              <a:rPr lang="en-US" dirty="0" smtClean="0">
                <a:solidFill>
                  <a:schemeClr val="bg1"/>
                </a:solidFill>
              </a:rPr>
              <a:t>   “The greenhouse occurs naturally, but when humans put more greenhouse gases (carbon, methane, water vapor, and, nitrous oxide) and pollutants in the air the natural balance is off set. Since the beginning of industrialization, two hundred years ago, the gases have risen substantially, mainly from fossil fuels. This has produced a reduction in environmental quality and an increase in    global warming.”</a:t>
            </a:r>
          </a:p>
          <a:p>
            <a:endParaRPr lang="en-US" dirty="0" smtClean="0">
              <a:solidFill>
                <a:schemeClr val="bg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7170" name="Picture 2" descr="C:\Documents and Settings\Way Free You.MATRIX-A4A28AF3\Desktop\greenhouse\greenhouse.gif"/>
          <p:cNvPicPr>
            <a:picLocks noChangeAspect="1" noChangeArrowheads="1"/>
          </p:cNvPicPr>
          <p:nvPr/>
        </p:nvPicPr>
        <p:blipFill>
          <a:blip r:embed="rId3"/>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9218" name="Picture 2" descr="C:\Documents and Settings\Way Free You.MATRIX-A4A28AF3\Desktop\greenhouse\gheffect.gif"/>
          <p:cNvPicPr>
            <a:picLocks noChangeAspect="1" noChangeArrowheads="1"/>
          </p:cNvPicPr>
          <p:nvPr/>
        </p:nvPicPr>
        <p:blipFill>
          <a:blip r:embed="rId3"/>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8194" name="Picture 2" descr="C:\Documents and Settings\Way Free You.MATRIX-A4A28AF3\Desktop\greenhouse\Greenhouse_Gas_by_Sector.jpg"/>
          <p:cNvPicPr>
            <a:picLocks noChangeAspect="1" noChangeArrowheads="1"/>
          </p:cNvPicPr>
          <p:nvPr/>
        </p:nvPicPr>
        <p:blipFill>
          <a:blip r:embed="rId3"/>
          <a:srcRect/>
          <a:stretch>
            <a:fillRect/>
          </a:stretch>
        </p:blipFill>
        <p:spPr bwMode="auto">
          <a:xfrm>
            <a:off x="0" y="0"/>
            <a:ext cx="9144000" cy="6816376"/>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n-US"/>
          </a:p>
        </p:txBody>
      </p:sp>
      <p:sp>
        <p:nvSpPr>
          <p:cNvPr id="3" name="2 Marcador de contenido"/>
          <p:cNvSpPr>
            <a:spLocks noGrp="1"/>
          </p:cNvSpPr>
          <p:nvPr>
            <p:ph idx="1"/>
          </p:nvPr>
        </p:nvSpPr>
        <p:spPr/>
        <p:txBody>
          <a:bodyPr/>
          <a:lstStyle/>
          <a:p>
            <a:endParaRPr lang="en-US"/>
          </a:p>
        </p:txBody>
      </p:sp>
      <p:pic>
        <p:nvPicPr>
          <p:cNvPr id="12290" name="Picture 2" descr="C:\Documents and Settings\Way Free You.MATRIX-A4A28AF3\Desktop\Global Warming\untitled0.bmp"/>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5" name="4 CuadroTexto"/>
          <p:cNvSpPr txBox="1"/>
          <p:nvPr/>
        </p:nvSpPr>
        <p:spPr>
          <a:xfrm>
            <a:off x="4286248" y="4871877"/>
            <a:ext cx="4071966" cy="1200329"/>
          </a:xfrm>
          <a:prstGeom prst="rect">
            <a:avLst/>
          </a:prstGeom>
          <a:noFill/>
        </p:spPr>
        <p:txBody>
          <a:bodyPr wrap="square" rtlCol="0">
            <a:spAutoFit/>
          </a:bodyPr>
          <a:lstStyle/>
          <a:p>
            <a:r>
              <a:rPr lang="en-US" dirty="0" smtClean="0">
                <a:hlinkClick r:id="rId3" tooltip="Earth"/>
              </a:rPr>
              <a:t>Earth's</a:t>
            </a:r>
            <a:r>
              <a:rPr lang="en-US" dirty="0" smtClean="0"/>
              <a:t> average surface temperature of 15 °C (59 °F) is about 33 °C (91.4 °F) warmer than it would be without the greenhouse effect.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dirty="0"/>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lum bright="-10000"/>
          </a:blip>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8" name="7 Rectángulo"/>
          <p:cNvSpPr/>
          <p:nvPr/>
        </p:nvSpPr>
        <p:spPr>
          <a:xfrm>
            <a:off x="428596" y="1214422"/>
            <a:ext cx="8072494" cy="27860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6 CuadroTexto"/>
          <p:cNvSpPr txBox="1"/>
          <p:nvPr/>
        </p:nvSpPr>
        <p:spPr>
          <a:xfrm>
            <a:off x="428596" y="1214422"/>
            <a:ext cx="8215370" cy="2954655"/>
          </a:xfrm>
          <a:prstGeom prst="rect">
            <a:avLst/>
          </a:prstGeom>
          <a:noFill/>
          <a:ln>
            <a:solidFill>
              <a:srgbClr val="FFFF00"/>
            </a:solidFill>
          </a:ln>
        </p:spPr>
        <p:txBody>
          <a:bodyPr wrap="square" rtlCol="0">
            <a:spAutoFit/>
          </a:bodyPr>
          <a:lstStyle/>
          <a:p>
            <a:r>
              <a:rPr lang="en-US" sz="2400" dirty="0" smtClean="0">
                <a:solidFill>
                  <a:schemeClr val="bg1"/>
                </a:solidFill>
              </a:rPr>
              <a:t>With further increases, the consequences of global warming could very well include the eradication of the entire ecosystems, increased frequency and intensity of storms, hurricanes, floods, and droughts. It could also cause melting of glaciers and polar ice which would cause rising sea levels resulting in the permanent flooding of vast areas of heavily populated lands and the creation of hundreds of millions of environmental refugees. </a:t>
            </a:r>
          </a:p>
          <a:p>
            <a:endParaRPr lang="en-US" dirty="0"/>
          </a:p>
        </p:txBody>
      </p:sp>
      <p:pic>
        <p:nvPicPr>
          <p:cNvPr id="4098" name="Picture 2" descr="C:\Documents and Settings\Way Free You.MATRIX-A4A28AF3\Desktop\greenhouse\images.jpg"/>
          <p:cNvPicPr>
            <a:picLocks noChangeAspect="1" noChangeArrowheads="1"/>
          </p:cNvPicPr>
          <p:nvPr/>
        </p:nvPicPr>
        <p:blipFill>
          <a:blip r:embed="rId3"/>
          <a:srcRect/>
          <a:stretch>
            <a:fillRect/>
          </a:stretch>
        </p:blipFill>
        <p:spPr bwMode="auto">
          <a:xfrm>
            <a:off x="0" y="4214818"/>
            <a:ext cx="2312974" cy="1529547"/>
          </a:xfrm>
          <a:prstGeom prst="rect">
            <a:avLst/>
          </a:prstGeom>
          <a:noFill/>
        </p:spPr>
      </p:pic>
      <p:pic>
        <p:nvPicPr>
          <p:cNvPr id="4099" name="Picture 3" descr="C:\Documents and Settings\Way Free You.MATRIX-A4A28AF3\Desktop\greenhouse\hurricane.jpg"/>
          <p:cNvPicPr>
            <a:picLocks noChangeAspect="1" noChangeArrowheads="1"/>
          </p:cNvPicPr>
          <p:nvPr/>
        </p:nvPicPr>
        <p:blipFill>
          <a:blip r:embed="rId4"/>
          <a:srcRect/>
          <a:stretch>
            <a:fillRect/>
          </a:stretch>
        </p:blipFill>
        <p:spPr bwMode="auto">
          <a:xfrm>
            <a:off x="2373314" y="5143512"/>
            <a:ext cx="2341562" cy="1560512"/>
          </a:xfrm>
          <a:prstGeom prst="rect">
            <a:avLst/>
          </a:prstGeom>
          <a:noFill/>
        </p:spPr>
      </p:pic>
      <p:pic>
        <p:nvPicPr>
          <p:cNvPr id="4100" name="Picture 4" descr="C:\Documents and Settings\Way Free You.MATRIX-A4A28AF3\Desktop\greenhouse\3_61_greenland_melt_flow.jpg"/>
          <p:cNvPicPr>
            <a:picLocks noChangeAspect="1" noChangeArrowheads="1"/>
          </p:cNvPicPr>
          <p:nvPr/>
        </p:nvPicPr>
        <p:blipFill>
          <a:blip r:embed="rId5"/>
          <a:srcRect/>
          <a:stretch>
            <a:fillRect/>
          </a:stretch>
        </p:blipFill>
        <p:spPr bwMode="auto">
          <a:xfrm>
            <a:off x="4714876" y="4214818"/>
            <a:ext cx="2118803" cy="1589102"/>
          </a:xfrm>
          <a:prstGeom prst="rect">
            <a:avLst/>
          </a:prstGeom>
          <a:noFill/>
        </p:spPr>
      </p:pic>
      <p:pic>
        <p:nvPicPr>
          <p:cNvPr id="4101" name="Picture 5" descr="C:\Documents and Settings\Way Free You.MATRIX-A4A28AF3\Desktop\greenhouse\22281668.jpg"/>
          <p:cNvPicPr>
            <a:picLocks noChangeAspect="1" noChangeArrowheads="1"/>
          </p:cNvPicPr>
          <p:nvPr/>
        </p:nvPicPr>
        <p:blipFill>
          <a:blip r:embed="rId6"/>
          <a:srcRect/>
          <a:stretch>
            <a:fillRect/>
          </a:stretch>
        </p:blipFill>
        <p:spPr bwMode="auto">
          <a:xfrm>
            <a:off x="6929486" y="5180051"/>
            <a:ext cx="2143108" cy="1535097"/>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sp>
        <p:nvSpPr>
          <p:cNvPr id="6" name="5 Marcador de contenido"/>
          <p:cNvSpPr>
            <a:spLocks noGrp="1"/>
          </p:cNvSpPr>
          <p:nvPr>
            <p:ph idx="1"/>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2"/>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2" name="Picture 2" descr="C:\Documents and Settings\Way Free You.MATRIX-A4A28AF3\Desktop\greenhouse\dry-earth11.jpg"/>
          <p:cNvPicPr>
            <a:picLocks noChangeAspect="1" noChangeArrowheads="1"/>
          </p:cNvPicPr>
          <p:nvPr/>
        </p:nvPicPr>
        <p:blipFill>
          <a:blip r:embed="rId3"/>
          <a:srcRect/>
          <a:stretch>
            <a:fillRect/>
          </a:stretch>
        </p:blipFill>
        <p:spPr bwMode="auto">
          <a:xfrm>
            <a:off x="214282" y="1928802"/>
            <a:ext cx="4021606" cy="3940172"/>
          </a:xfrm>
          <a:prstGeom prst="rect">
            <a:avLst/>
          </a:prstGeom>
          <a:noFill/>
        </p:spPr>
      </p:pic>
      <p:pic>
        <p:nvPicPr>
          <p:cNvPr id="5123" name="Picture 3" descr="C:\Documents and Settings\Way Free You.MATRIX-A4A28AF3\Desktop\greenhouse\mars-1.jpg"/>
          <p:cNvPicPr>
            <a:picLocks noChangeAspect="1" noChangeArrowheads="1"/>
          </p:cNvPicPr>
          <p:nvPr/>
        </p:nvPicPr>
        <p:blipFill>
          <a:blip r:embed="rId4"/>
          <a:srcRect/>
          <a:stretch>
            <a:fillRect/>
          </a:stretch>
        </p:blipFill>
        <p:spPr bwMode="auto">
          <a:xfrm>
            <a:off x="5000628" y="1928802"/>
            <a:ext cx="3810000" cy="3810000"/>
          </a:xfrm>
          <a:prstGeom prst="rect">
            <a:avLst/>
          </a:prstGeom>
          <a:noFill/>
        </p:spPr>
      </p:pic>
      <p:sp>
        <p:nvSpPr>
          <p:cNvPr id="9" name="8 Flecha izquierda y derecha"/>
          <p:cNvSpPr/>
          <p:nvPr/>
        </p:nvSpPr>
        <p:spPr>
          <a:xfrm>
            <a:off x="4214810" y="3929066"/>
            <a:ext cx="857256" cy="357190"/>
          </a:xfrm>
          <a:prstGeom prst="lef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11" name="10 CuadroTexto"/>
          <p:cNvSpPr txBox="1"/>
          <p:nvPr/>
        </p:nvSpPr>
        <p:spPr>
          <a:xfrm>
            <a:off x="1360163" y="6000768"/>
            <a:ext cx="1568763" cy="707886"/>
          </a:xfrm>
          <a:prstGeom prst="rect">
            <a:avLst/>
          </a:prstGeom>
          <a:noFill/>
        </p:spPr>
        <p:txBody>
          <a:bodyPr wrap="none" rtlCol="0">
            <a:spAutoFit/>
          </a:bodyPr>
          <a:lstStyle/>
          <a:p>
            <a:r>
              <a:rPr lang="en-US" sz="4000" dirty="0" smtClean="0">
                <a:solidFill>
                  <a:srgbClr val="FFFF00"/>
                </a:solidFill>
              </a:rPr>
              <a:t>EARTH</a:t>
            </a:r>
            <a:endParaRPr lang="en-US" dirty="0">
              <a:solidFill>
                <a:srgbClr val="FFFF00"/>
              </a:solidFill>
            </a:endParaRPr>
          </a:p>
        </p:txBody>
      </p:sp>
      <p:sp>
        <p:nvSpPr>
          <p:cNvPr id="12" name="11 CuadroTexto"/>
          <p:cNvSpPr txBox="1"/>
          <p:nvPr/>
        </p:nvSpPr>
        <p:spPr>
          <a:xfrm>
            <a:off x="6072682" y="6000768"/>
            <a:ext cx="1428276" cy="707886"/>
          </a:xfrm>
          <a:prstGeom prst="rect">
            <a:avLst/>
          </a:prstGeom>
          <a:noFill/>
        </p:spPr>
        <p:txBody>
          <a:bodyPr wrap="none" rtlCol="0">
            <a:spAutoFit/>
          </a:bodyPr>
          <a:lstStyle/>
          <a:p>
            <a:r>
              <a:rPr lang="en-US" sz="4000" dirty="0" smtClean="0">
                <a:solidFill>
                  <a:srgbClr val="FFFF00"/>
                </a:solidFill>
              </a:rPr>
              <a:t>MARS</a:t>
            </a:r>
            <a:endParaRPr lang="en-US" dirty="0">
              <a:solidFill>
                <a:srgbClr val="FFFF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endParaRPr lang="en-US"/>
          </a:p>
        </p:txBody>
      </p:sp>
      <p:pic>
        <p:nvPicPr>
          <p:cNvPr id="1026" name="Picture 2" descr="C:\Documents and Settings\Way Free You.MATRIX-A4A28AF3\Desktop\Global Warming\2971165570090179925S500x500Q85.jpg"/>
          <p:cNvPicPr>
            <a:picLocks noChangeAspect="1" noChangeArrowheads="1"/>
          </p:cNvPicPr>
          <p:nvPr/>
        </p:nvPicPr>
        <p:blipFill>
          <a:blip r:embed="rId3">
            <a:lum bright="-6000"/>
          </a:blip>
          <a:srcRect/>
          <a:stretch>
            <a:fillRect/>
          </a:stretch>
        </p:blipFill>
        <p:spPr bwMode="auto">
          <a:xfrm>
            <a:off x="0" y="-1"/>
            <a:ext cx="9144000" cy="6857999"/>
          </a:xfrm>
          <a:prstGeom prst="rect">
            <a:avLst/>
          </a:prstGeom>
          <a:noFill/>
        </p:spPr>
      </p:pic>
      <p:sp>
        <p:nvSpPr>
          <p:cNvPr id="10" name="9 Rectángulo"/>
          <p:cNvSpPr/>
          <p:nvPr/>
        </p:nvSpPr>
        <p:spPr>
          <a:xfrm>
            <a:off x="285720" y="0"/>
            <a:ext cx="8286808" cy="1323439"/>
          </a:xfrm>
          <a:prstGeom prst="rect">
            <a:avLst/>
          </a:prstGeom>
          <a:noFill/>
        </p:spPr>
        <p:txBody>
          <a:bodyPr wrap="square" lIns="91440" tIns="45720" rIns="91440" bIns="45720">
            <a:spAutoFit/>
          </a:bodyPr>
          <a:lstStyle/>
          <a:p>
            <a:pPr algn="ctr"/>
            <a:r>
              <a:rPr lang="en-US" sz="80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Greenhouse Effect</a:t>
            </a:r>
            <a:endParaRPr lang="en-US" sz="80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13" name="12 Rectángulo"/>
          <p:cNvSpPr/>
          <p:nvPr/>
        </p:nvSpPr>
        <p:spPr>
          <a:xfrm>
            <a:off x="714348" y="2772503"/>
            <a:ext cx="7858180" cy="4247317"/>
          </a:xfrm>
          <a:prstGeom prst="rect">
            <a:avLst/>
          </a:prstGeom>
        </p:spPr>
        <p:txBody>
          <a:bodyPr wrap="square">
            <a:spAutoFit/>
          </a:bodyPr>
          <a:lstStyle/>
          <a:p>
            <a:r>
              <a:rPr lang="en-US" sz="5400" dirty="0" smtClean="0">
                <a:solidFill>
                  <a:srgbClr val="FFFF00"/>
                </a:solidFill>
              </a:rPr>
              <a:t>The greenhouse effect is a good thing as long as we don’t add gases to it. </a:t>
            </a:r>
          </a:p>
          <a:p>
            <a:endParaRPr lang="en-US" sz="5400" dirty="0" smtClean="0">
              <a:solidFill>
                <a:srgbClr val="FFFF00"/>
              </a:solidFill>
            </a:endParaRPr>
          </a:p>
          <a:p>
            <a:pPr algn="ctr"/>
            <a:r>
              <a:rPr lang="en-US" sz="5400" dirty="0" smtClean="0">
                <a:solidFill>
                  <a:srgbClr val="FF0000"/>
                </a:solidFill>
              </a:rPr>
              <a:t>THE END</a:t>
            </a:r>
          </a:p>
        </p:txBody>
      </p:sp>
      <p:sp>
        <p:nvSpPr>
          <p:cNvPr id="14" name="13 CuadroTexto"/>
          <p:cNvSpPr txBox="1"/>
          <p:nvPr/>
        </p:nvSpPr>
        <p:spPr>
          <a:xfrm>
            <a:off x="7358082" y="6286520"/>
            <a:ext cx="1601721" cy="369332"/>
          </a:xfrm>
          <a:prstGeom prst="rect">
            <a:avLst/>
          </a:prstGeom>
          <a:noFill/>
        </p:spPr>
        <p:txBody>
          <a:bodyPr wrap="none" rtlCol="0">
            <a:spAutoFit/>
          </a:bodyPr>
          <a:lstStyle/>
          <a:p>
            <a:r>
              <a:rPr lang="en-US" dirty="0" smtClean="0">
                <a:solidFill>
                  <a:srgbClr val="FFFF00"/>
                </a:solidFill>
              </a:rPr>
              <a:t>Think about it..</a:t>
            </a:r>
            <a:endParaRPr lang="en-US" dirty="0">
              <a:solidFill>
                <a:srgbClr val="FFFF00"/>
              </a:solidFill>
            </a:endParaRPr>
          </a:p>
        </p:txBody>
      </p:sp>
      <p:pic>
        <p:nvPicPr>
          <p:cNvPr id="9" name="Haendel - El Mesías, Aleluya (1).mp3">
            <a:hlinkClick r:id="" action="ppaction://media"/>
          </p:cNvPr>
          <p:cNvPicPr>
            <a:picLocks noGrp="1" noRot="1" noChangeAspect="1"/>
          </p:cNvPicPr>
          <p:nvPr>
            <p:ph idx="1"/>
            <a:audioFile r:link="rId1"/>
          </p:nvPr>
        </p:nvPicPr>
        <p:blipFill>
          <a:blip r:embed="rId4"/>
          <a:stretch>
            <a:fillRect/>
          </a:stretch>
        </p:blipFill>
        <p:spPr>
          <a:xfrm>
            <a:off x="8643966" y="6000768"/>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nodeType="clickEffect">
                                  <p:stCondLst>
                                    <p:cond delay="0"/>
                                  </p:stCondLst>
                                  <p:childTnLst>
                                    <p:animScale>
                                      <p:cBhvr>
                                        <p:cTn id="11" dur="2000" fill="hold"/>
                                        <p:tgtEl>
                                          <p:spTgt spid="13">
                                            <p:txEl>
                                              <p:pRg st="2" end="2"/>
                                            </p:txEl>
                                          </p:spTgt>
                                        </p:tgtEl>
                                      </p:cBhvr>
                                      <p:by x="150000" y="150000"/>
                                    </p:animScale>
                                  </p:childTnLst>
                                </p:cTn>
                              </p:par>
                            </p:childTnLst>
                          </p:cTn>
                        </p:par>
                        <p:par>
                          <p:cTn id="12" fill="hold">
                            <p:stCondLst>
                              <p:cond delay="2000"/>
                            </p:stCondLst>
                            <p:childTnLst>
                              <p:par>
                                <p:cTn id="13" presetID="1" presetClass="mediacall" presetSubtype="0" fill="hold" nodeType="afterEffect">
                                  <p:stCondLst>
                                    <p:cond delay="0"/>
                                  </p:stCondLst>
                                  <p:childTnLst>
                                    <p:cmd type="call" cmd="playFrom(0.0)">
                                      <p:cBhvr>
                                        <p:cTn id="14" dur="23721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15" repeatCount="indefinite" fill="hold" display="0">
                  <p:stCondLst>
                    <p:cond delay="indefinite"/>
                  </p:stCondLst>
                  <p:endCondLst>
                    <p:cond evt="onNext" delay="0">
                      <p:tgtEl>
                        <p:sldTgt/>
                      </p:tgtEl>
                    </p:cond>
                    <p:cond evt="onPrev" delay="0">
                      <p:tgtEl>
                        <p:sldTgt/>
                      </p:tgtEl>
                    </p:cond>
                    <p:cond evt="onStopAudio" delay="0">
                      <p:tgtEl>
                        <p:sldTgt/>
                      </p:tgtEl>
                    </p:cond>
                  </p:endCondLst>
                </p:cTn>
                <p:tgtEl>
                  <p:spTgt spid="9"/>
                </p:tgtEl>
              </p:cMediaNode>
            </p:audio>
          </p:childTnLst>
        </p:cTn>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856</TotalTime>
  <Words>332</Words>
  <PresentationFormat>Presentación en pantalla (4:3)</PresentationFormat>
  <Paragraphs>52</Paragraphs>
  <Slides>15</Slides>
  <Notes>0</Notes>
  <HiddenSlides>0</HiddenSlides>
  <MMClips>3</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cp:lastModifiedBy>Wayfrel Puello</cp:lastModifiedBy>
  <cp:revision>33</cp:revision>
  <dcterms:modified xsi:type="dcterms:W3CDTF">2008-04-24T05:58:40Z</dcterms:modified>
</cp:coreProperties>
</file>